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E2761">
              <a:alpha val="6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2011680" y="4389120"/>
            <a:ext cx="4754880" cy="4754880"/>
          </a:xfrm>
          <a:prstGeom prst="ellipse">
            <a:avLst/>
          </a:prstGeom>
          <a:solidFill>
            <a:srgbClr val="1E2761">
              <a:alpha val="6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3A4590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001" y="87828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SCIENCE MINI PROJECT · 4TH SEMESTER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102412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Student Performance Analysis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Early-Warning System for At-Risk Students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22960" y="4251960"/>
            <a:ext cx="7772400" cy="18288"/>
          </a:xfrm>
          <a:prstGeom prst="rect">
            <a:avLst/>
          </a:prstGeom>
          <a:solidFill>
            <a:srgbClr val="3A4590"/>
          </a:solidFill>
        </p:spPr>
      </p:sp>
      <p:sp>
        <p:nvSpPr>
          <p:cNvPr id="10" name="Text 7"/>
          <p:cNvSpPr/>
          <p:nvPr/>
        </p:nvSpPr>
        <p:spPr>
          <a:xfrm>
            <a:off x="822960" y="45262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Computer Science, UET Peshawar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48463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Members: Hoorain Eman , Yaseen Khan, Amin_ul_Haq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8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Problem &amp; The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Predicting risk before it's too late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4F7FD"/>
          </a:solidFill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10512"/>
            <a:ext cx="548640" cy="548640"/>
          </a:xfrm>
          <a:prstGeom prst="ellipse">
            <a:avLst/>
          </a:prstGeom>
          <a:solidFill>
            <a:srgbClr val="C4453A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" y="1881835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10512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8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754880" cy="342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Schools detect failing students only after final exams — too late to help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Goal: predict pass/fail at the start of the year, using only enrollment-time data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task: binary classification (pass = final grade G3 ≥ 10)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decision: grades G1/G2/G3 excluded from features → no data leakage, genuine early prediction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4F7FD"/>
          </a:solidFill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1810512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003" y="1881835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810512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8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Overview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83680" y="251460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UCI Student Performance Dataset </a:t>
            </a:r>
            <a:r>
              <a:rPr lang="en-US" sz="1350" dirty="0">
                <a:solidFill>
                  <a:srgbClr val="22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(Cortez &amp; Silva, 2008) — public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583680" y="3063240"/>
            <a:ext cx="1737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1,044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6583680" y="365760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6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(Math 395 + Port. 649)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458200" y="3063240"/>
            <a:ext cx="1463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33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8458200" y="365760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6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attributes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9921240" y="3063240"/>
            <a:ext cx="1691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78/22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9921240" y="365760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6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% pass / fail split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583680" y="4343400"/>
            <a:ext cx="4754880" cy="13716"/>
          </a:xfrm>
          <a:prstGeom prst="rect">
            <a:avLst/>
          </a:prstGeom>
          <a:solidFill>
            <a:srgbClr val="D8DEEE"/>
          </a:solidFill>
        </p:spPr>
      </p:sp>
      <p:sp>
        <p:nvSpPr>
          <p:cNvPr id="21" name="Text 17"/>
          <p:cNvSpPr/>
          <p:nvPr/>
        </p:nvSpPr>
        <p:spPr>
          <a:xfrm>
            <a:off x="6583680" y="452628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2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Covers: </a:t>
            </a:r>
            <a:endParaRPr lang="en-US" sz="1250" dirty="0"/>
          </a:p>
          <a:p>
            <a:pPr marL="0" indent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2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demographics, parental background, school factors, social &amp; lifestyle habits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2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Quality: 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missing values; absences capped at 99th percentile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8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Raw Data to Model-Ready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insights → engineered features → selected feature 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4F7FD"/>
          </a:solidFill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193990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874520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EDA Findings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306324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2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Past failures = strongest negative predictor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2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Higher parental education, study time &amp; higher-ed ambition → passing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2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Frequent going out &amp; alcohol use → lower grades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2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absences right-skewed → log transform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2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G1/G2 correlate with G3 at r &gt; 0.8 → leakage risk confirmed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4F7FD"/>
          </a:solidFill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87452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820" y="193990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5232" y="1874520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63440" y="2560320"/>
            <a:ext cx="306324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2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new features: parent_edu_avg, alcohol_index, support_count, study_social_ratio, age_group, log_absences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2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Encoding: label (14 binary) + one-hot (Mjob, Fjob, reason, guardian)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2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Scaling: StandardScaler (train-fit only)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2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46 features, 80/20 stratified split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0" y="160020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4F7FD"/>
          </a:solidFill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03920" y="187452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9300" y="193990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25712" y="1874520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Feature Selection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03920" y="2560320"/>
            <a:ext cx="306324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2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methods, 3 families: Correlation + Chi-Square (filter), RFE (wrapper), RF importance (embedded)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2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set = picked by ≥ 2 methods → 16 features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2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Top: failures, higher, absences, studytime, goout, parent_edu_avg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2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of 6 engineered features survived — validated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8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Models &amp; Evaluation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6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Regression, Random Forest, Gradient Boosting, SVM — tuned via 5-fold GridSearchCV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48640" y="1600200"/>
          <a:ext cx="6858000" cy="2834643"/>
        </p:xfrm>
        <a:graphic>
          <a:graphicData uri="http://schemas.openxmlformats.org/drawingml/2006/table">
            <a:tbl>
              <a:tblPr/>
              <a:tblGrid>
                <a:gridCol w="2468880"/>
                <a:gridCol w="1463040"/>
                <a:gridCol w="1463040"/>
                <a:gridCol w="1463040"/>
              </a:tblGrid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Accuracy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ROC AUC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Logistic Regression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8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0.794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8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0.879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8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0.715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Random Forest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8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0.790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8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0.874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8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0.724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Gradient Boosting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0.794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0.877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E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0.751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SVM (RBF)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8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0.794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8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0.878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8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0.745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RF (tuned)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8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0.785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8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0.873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8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0.733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RF + PCA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E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0.804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0.884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461772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6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Gradient Boosting delivers the best risk-ranking (highest ROC AUC) → recommended model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818120" y="1600200"/>
            <a:ext cx="3794760" cy="4526280"/>
          </a:xfrm>
          <a:prstGeom prst="roundRect">
            <a:avLst>
              <a:gd name="adj" fmla="val 1928"/>
            </a:avLst>
          </a:prstGeom>
          <a:solidFill>
            <a:srgbClr val="1E2761"/>
          </a:solidFill>
          <a:effectLst>
            <a:outerShdw blurRad="1016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38160" y="1874520"/>
            <a:ext cx="548640" cy="548640"/>
          </a:xfrm>
          <a:prstGeom prst="ellipse">
            <a:avLst/>
          </a:prstGeom>
          <a:solidFill>
            <a:srgbClr val="F2B441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9483" y="1945843"/>
            <a:ext cx="405994" cy="4059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23960" y="187452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Best Configuration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138160" y="2606040"/>
            <a:ext cx="3154680" cy="3291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Tuning: </a:t>
            </a:r>
            <a:endParaRPr lang="en-US" sz="12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GridSearchCV, 5-fold CV, 36 combos on Random Forest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params: </a:t>
            </a:r>
            <a:endParaRPr lang="en-US" sz="12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max_depth=8, max_features=sqrt, min_samples_split=10, n_estimators=400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Bonus — PCA: 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features → 12 components (95% variance retained)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9768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Business Insights &amp; 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found, and what schools should do with 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C4453A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16596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600200"/>
            <a:ext cx="5577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 failures &amp; no higher-ed ambition = strongest risk flags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350008"/>
            <a:ext cx="457200" cy="457200"/>
          </a:xfrm>
          <a:prstGeom prst="ellipse">
            <a:avLst/>
          </a:prstGeom>
          <a:solidFill>
            <a:srgbClr val="F2B441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2409444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350008"/>
            <a:ext cx="5577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Attendance is a live, actionable in-year alert signal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099816"/>
            <a:ext cx="457200" cy="457200"/>
          </a:xfrm>
          <a:prstGeom prst="ellipse">
            <a:avLst/>
          </a:prstGeom>
          <a:solidFill>
            <a:srgbClr val="3A4590"/>
          </a:solidFill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3159252"/>
            <a:ext cx="338328" cy="3383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099816"/>
            <a:ext cx="5577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support at low-parental-education households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3849624"/>
            <a:ext cx="457200" cy="457200"/>
          </a:xfrm>
          <a:prstGeom prst="ellipse">
            <a:avLst/>
          </a:prstGeom>
          <a:solidFill>
            <a:srgbClr val="F2B441"/>
          </a:solidFill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" y="3909060"/>
            <a:ext cx="338328" cy="33832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3849624"/>
            <a:ext cx="5577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 the top-risk quintile for tutoring at year start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48640" y="4599432"/>
            <a:ext cx="457200" cy="457200"/>
          </a:xfrm>
          <a:prstGeom prst="ellipse">
            <a:avLst/>
          </a:prstGeom>
          <a:solidFill>
            <a:srgbClr val="1E8E6B"/>
          </a:solidFill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" y="4658868"/>
            <a:ext cx="338328" cy="33832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88720" y="4599432"/>
            <a:ext cx="5577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Pair predictions with human review — false alarms are cheap, missed students are not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7178040" y="1600200"/>
            <a:ext cx="4480560" cy="4160520"/>
          </a:xfrm>
          <a:prstGeom prst="roundRect">
            <a:avLst>
              <a:gd name="adj" fmla="val 1758"/>
            </a:avLst>
          </a:prstGeom>
          <a:solidFill>
            <a:srgbClr val="27306B"/>
          </a:solidFill>
        </p:spPr>
      </p:sp>
      <p:sp>
        <p:nvSpPr>
          <p:cNvPr id="21" name="Text 14"/>
          <p:cNvSpPr/>
          <p:nvPr/>
        </p:nvSpPr>
        <p:spPr>
          <a:xfrm>
            <a:off x="7498080" y="178308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7498080" y="2286000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B4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~80%</a:t>
            </a:r>
            <a:endParaRPr lang="en-US" sz="3400" dirty="0"/>
          </a:p>
        </p:txBody>
      </p:sp>
      <p:sp>
        <p:nvSpPr>
          <p:cNvPr id="23" name="Text 16"/>
          <p:cNvSpPr/>
          <p:nvPr/>
        </p:nvSpPr>
        <p:spPr>
          <a:xfrm>
            <a:off x="7498080" y="294436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— without any grade history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7498080" y="3520440"/>
            <a:ext cx="3840480" cy="10973"/>
          </a:xfrm>
          <a:prstGeom prst="rect">
            <a:avLst/>
          </a:prstGeom>
          <a:solidFill>
            <a:srgbClr val="3A4590"/>
          </a:solidFill>
        </p:spPr>
      </p:sp>
      <p:sp>
        <p:nvSpPr>
          <p:cNvPr id="25" name="Text 18"/>
          <p:cNvSpPr/>
          <p:nvPr/>
        </p:nvSpPr>
        <p:spPr>
          <a:xfrm>
            <a:off x="7498080" y="3657600"/>
            <a:ext cx="384048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Pipeline: </a:t>
            </a:r>
            <a:endParaRPr lang="en-US" sz="115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→ features → selection → models → tuning → PCA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Limitations: </a:t>
            </a:r>
            <a:endParaRPr lang="en-US" sz="115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2-school Portuguese data (2008), class imbalance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work: 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weighting/SMOTE, in-year signals, local retraining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548640" y="60350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 —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3052</Words>
  <Application>WPS Presentation</Application>
  <PresentationFormat>On-screen Show (16:9)</PresentationFormat>
  <Paragraphs>169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Analysis</dc:title>
  <dc:creator>Data Science Group</dc:creator>
  <dc:subject>PptxGenJS Presentation</dc:subject>
  <cp:lastModifiedBy>admin</cp:lastModifiedBy>
  <cp:revision>2</cp:revision>
  <dcterms:created xsi:type="dcterms:W3CDTF">2026-07-07T15:58:00Z</dcterms:created>
  <dcterms:modified xsi:type="dcterms:W3CDTF">2026-07-07T16:01:39Z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368DA2070FAC4E569597FE960178A455_13</vt:lpwstr>
  </property>
  <property fmtid="{D5CDD505-2E9C-101B-9397-08002B2CF9AE}" pid="3" name="KSOProductBuildVer">
    <vt:lpwstr>1033-12.1.0.26880</vt:lpwstr>
  </property>
</Properties>
</file>